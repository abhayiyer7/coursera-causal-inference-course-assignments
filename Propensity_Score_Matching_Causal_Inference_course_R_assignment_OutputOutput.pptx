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1" r:id="rId16"/>
    <p:sldId id="272" r:id="rId17"/>
    <p:sldId id="274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40"/>
    <p:restoredTop sz="94631"/>
  </p:normalViewPr>
  <p:slideViewPr>
    <p:cSldViewPr snapToGrid="0">
      <p:cViewPr varScale="1">
        <p:scale>
          <a:sx n="98" d="100"/>
          <a:sy n="98" d="100"/>
        </p:scale>
        <p:origin x="22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D2D8D-0E31-A558-01C9-B22815D08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B3EBE-82DE-521D-52B5-51535D385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FBC21-DE65-8B0C-CA1D-C2F4E8BF9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D7197-D2C2-6378-D99E-FEC9FD14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1DD14-FE8C-9AC0-6E18-A0E12EEE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8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B1EC1-E7D8-E1B4-F093-C2B95E04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1AD2E-297A-520E-4D2B-BD8D67E4F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16C5D-D18C-4603-EAA5-9CD9697F0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7AADC-E3BE-2255-CE22-D32EEC8E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04A8-390C-59C2-7D8F-0219A2C9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27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1E17-D31C-8C1B-11FA-1F6B072D8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4DB93-43D9-5B55-94AD-1DB4D3BE4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A30E6-E12E-2A55-5810-B30DC915F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BA99B-7A1A-6DD7-A596-29F80964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00772-5148-5E8F-7A88-FDAE4EBB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95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1777-0748-A9CE-614C-25905DD6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068C-B35C-A224-0B0C-B9726B6EF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56DFBE-B615-7664-26C8-5242AE3A0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F28CD-DF09-6FA4-FFEC-7AC394C6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03FB6-E862-AF9A-A0A5-8CEE5AE2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BCB9A-1CA8-EC0D-475E-103151FC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4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F569-9AE9-C356-4054-0C7A6553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6F670-3814-ED03-A03C-E1C3A397C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A548F-8C2E-56C4-94C9-5D4416D01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0C5AF-4BFF-13CF-EF92-40FFA4309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53A8C2-E40E-7214-37E6-1B208D38E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C9CF9E-2180-F594-F8FB-C7B737D7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F5B9D-D64B-8871-E001-D04EFF27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93AF6-5058-E6AE-6E52-57BF87F4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7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754E-9FDF-7566-2CFE-6C2DA7E4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0FAE0-1F08-75DC-F296-2E719DBD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5B48B-1CE6-AA66-26A6-62220E8E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0208D-3E4D-F495-0471-D3B7717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8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4E4EF-8A93-A9C0-AC2B-A8B46809F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5C23D-CF86-09B0-E139-8CB9935A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579E3-0262-79CD-0FB0-97F4AA70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1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9CFB-D2B7-6800-460C-3F72E43EF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8C862-C782-6474-16E0-39E86E9A5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35E82-50AB-29BF-2477-752E0AD24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56362-4063-91E2-64A1-0ACA26361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DA053-09FE-924D-BAF6-6C1F5B59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CF5F6-2BDE-FAB4-C3D3-316D57AF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8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F477-3F5B-12C6-AE39-448793D4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31EED4-B617-E8A6-A9C2-35E1AA804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5A9CD-57A7-1E21-75D9-CEFCEE498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91660-D6F3-79DF-2A93-F5D6D4A3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1368D-0609-ADAA-A9A7-45293444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1CF82-6B6B-09DB-3959-E2A70B95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9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0FF6-0893-7AFF-6175-8D7436A1E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FF95D-EF59-1942-C02F-43B006BF1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23EDD-0B10-9F3F-949D-13CAB8D4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5D8BF-B224-EAA7-214C-6294FF31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FF37D-1EBD-EDCE-2761-55D6DCBF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34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A83E8-A0B4-96BA-4E05-C2AE39E63E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261C7-6486-51BD-8C17-06F6AFB58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2D568-32A5-B296-4DE1-F278D28D7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107FD-F3DE-6B15-C71D-A07176BF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E0655-CA42-2FDF-539A-BEE14B1F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04DF7-8FC3-93FD-30D5-E1A8A84D2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EEEC-3C9E-9454-904F-E9CEE9F6A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441BE-4BC1-A241-15AF-FC5BFA38A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67B8F3-21B7-4440-B5EC-DE10DC7A78DB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B3D4A-9477-C7DA-B19D-953B6C025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66CB5-F75B-827F-0726-4B6BE42F2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AC35A-6B09-EA43-B265-7F39A6B95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1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754D-67ED-E406-588F-1DA09A5FC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Causal Modelling in 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2D2DD-9520-BE8C-937A-C697826A3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88419"/>
          </a:xfrm>
        </p:spPr>
        <p:txBody>
          <a:bodyPr>
            <a:normAutofit/>
          </a:bodyPr>
          <a:lstStyle/>
          <a:p>
            <a:r>
              <a:rPr lang="en-US" dirty="0"/>
              <a:t>Assignment for Coursera’s </a:t>
            </a:r>
            <a:r>
              <a:rPr lang="en-IN" dirty="0"/>
              <a:t>A Crash Course in Causality: Inferring Causal Effects from Observational Data course.</a:t>
            </a:r>
          </a:p>
          <a:p>
            <a:endParaRPr lang="en-IN" dirty="0"/>
          </a:p>
          <a:p>
            <a:r>
              <a:rPr lang="en-IN" dirty="0"/>
              <a:t>Propensity Score Matching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93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13DC-51D4-CE4E-9C5E-2B500546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87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BCC2B-7DA3-9069-5322-E57E78CF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14"/>
            <a:ext cx="10515600" cy="541421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Dataset: </a:t>
            </a:r>
            <a:r>
              <a:rPr lang="en-IN" dirty="0"/>
              <a:t>Lalonde Dataset</a:t>
            </a:r>
          </a:p>
          <a:p>
            <a:endParaRPr lang="en-IN" dirty="0"/>
          </a:p>
          <a:p>
            <a:r>
              <a:rPr lang="en-IN" dirty="0"/>
              <a:t>Methods: Propensity score matching approach (1:1 matching)</a:t>
            </a:r>
          </a:p>
          <a:p>
            <a:endParaRPr lang="en-IN" dirty="0"/>
          </a:p>
          <a:p>
            <a:r>
              <a:rPr lang="en-IN" dirty="0"/>
              <a:t>Libraries Used: </a:t>
            </a:r>
            <a:r>
              <a:rPr lang="en-IN" dirty="0" err="1"/>
              <a:t>tableone</a:t>
            </a:r>
            <a:r>
              <a:rPr lang="en-IN" dirty="0"/>
              <a:t>, matching, </a:t>
            </a:r>
            <a:r>
              <a:rPr lang="en-IN" dirty="0" err="1"/>
              <a:t>MatchIt</a:t>
            </a:r>
            <a:r>
              <a:rPr lang="en-IN" dirty="0"/>
              <a:t>, </a:t>
            </a:r>
            <a:r>
              <a:rPr lang="en-IN" dirty="0" err="1"/>
              <a:t>gtools</a:t>
            </a:r>
            <a:endParaRPr lang="en-IN" dirty="0"/>
          </a:p>
          <a:p>
            <a:endParaRPr lang="en-IN" dirty="0"/>
          </a:p>
          <a:p>
            <a:r>
              <a:rPr lang="en-US" dirty="0"/>
              <a:t>Problem: </a:t>
            </a:r>
            <a:r>
              <a:rPr lang="en-IN" dirty="0"/>
              <a:t>Estimate the true impact of a job training program on earnings of the participants in the year 1978</a:t>
            </a:r>
          </a:p>
          <a:p>
            <a:endParaRPr lang="en-IN" dirty="0"/>
          </a:p>
          <a:p>
            <a:r>
              <a:rPr lang="en-IN" dirty="0"/>
              <a:t>Total Participants: 614 (429 in control, 185 in treatment)</a:t>
            </a:r>
          </a:p>
          <a:p>
            <a:endParaRPr lang="en-IN" dirty="0"/>
          </a:p>
          <a:p>
            <a:r>
              <a:rPr lang="en-IN" dirty="0"/>
              <a:t>9 variables (excluding treatment)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58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EC00-3424-036E-10BC-A56F6EEA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B6017-01C3-8112-63BA-8995BCE4E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Null Hypothesis: The job training program does not impact participant’s income.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marL="0" indent="0" algn="just">
              <a:buNone/>
            </a:pPr>
            <a:r>
              <a:rPr lang="en-IN" dirty="0"/>
              <a:t>Alternative Hypothesis: The job training program results in </a:t>
            </a:r>
            <a:r>
              <a:rPr lang="en-US" altLang="en-US" dirty="0">
                <a:solidFill>
                  <a:srgbClr val="000000"/>
                </a:solidFill>
              </a:rPr>
              <a:t>statistically significant difference in the 1978 mean earnings between the treated and control groups.</a:t>
            </a:r>
            <a:endParaRPr lang="en-US" alt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71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EB4FD-61B8-0973-EB54-F5B20964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Descriptive statistics for confounders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9CCC8C-4C7F-3BAF-4F2D-3E6A27954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144091"/>
              </p:ext>
            </p:extLst>
          </p:nvPr>
        </p:nvGraphicFramePr>
        <p:xfrm>
          <a:off x="1865376" y="1544384"/>
          <a:ext cx="8128002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8289027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2391724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621130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969836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8303812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380266094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/>
                        <a:t>Stratified by treatment variable (treat)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72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/>
                        <a:t>Control  (0)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/>
                        <a:t>Treatment  (1)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6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/>
                        <a:t>429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/>
                        <a:t>185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745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Variable name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23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28.03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54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educ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71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1.668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47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hispan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243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married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437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nodegree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41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5619.24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6788.75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2095.57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4886.62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860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2466.48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3292.00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1532.06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3219.25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754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144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1ECD8-C846-2BF3-DA29-DD8653F5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Naïve treatment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A9A1-EABD-86DE-6B09-924A126D7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" y="1843913"/>
            <a:ext cx="11661648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Naïve treatment effect = Treated – Control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The average 1978 earnings for those who participated in the training program - The average 1978 earnings for those who did not receive training.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re78 (treated) – re78 (control)</a:t>
            </a:r>
          </a:p>
          <a:p>
            <a:endParaRPr lang="en-US"/>
          </a:p>
          <a:p>
            <a:r>
              <a:rPr lang="en-IN"/>
              <a:t>$6,349.14 - $6,984.17 = -$635.03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70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63DA-CFD3-3E55-7FE2-D1C50E95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Logistic regression to find propensity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90905-598D-62B7-6BA1-08C94A9B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18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General linear model used</a:t>
            </a:r>
          </a:p>
          <a:p>
            <a:pPr marL="0" indent="0">
              <a:buNone/>
            </a:pPr>
            <a:r>
              <a:rPr lang="en-US"/>
              <a:t>Treat ~ age+educ+black+hispan+married+nodegree+re74+re75</a:t>
            </a:r>
          </a:p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CD5511-B60A-A77C-B30F-8B2F63109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17608"/>
              </p:ext>
            </p:extLst>
          </p:nvPr>
        </p:nvGraphicFramePr>
        <p:xfrm>
          <a:off x="1763483" y="2521098"/>
          <a:ext cx="8708574" cy="3895066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51429">
                  <a:extLst>
                    <a:ext uri="{9D8B030D-6E8A-4147-A177-3AD203B41FA5}">
                      <a16:colId xmlns:a16="http://schemas.microsoft.com/office/drawing/2014/main" val="3831055012"/>
                    </a:ext>
                  </a:extLst>
                </a:gridCol>
                <a:gridCol w="1451429">
                  <a:extLst>
                    <a:ext uri="{9D8B030D-6E8A-4147-A177-3AD203B41FA5}">
                      <a16:colId xmlns:a16="http://schemas.microsoft.com/office/drawing/2014/main" val="3987629206"/>
                    </a:ext>
                  </a:extLst>
                </a:gridCol>
                <a:gridCol w="1451429">
                  <a:extLst>
                    <a:ext uri="{9D8B030D-6E8A-4147-A177-3AD203B41FA5}">
                      <a16:colId xmlns:a16="http://schemas.microsoft.com/office/drawing/2014/main" val="1546381161"/>
                    </a:ext>
                  </a:extLst>
                </a:gridCol>
                <a:gridCol w="1451429">
                  <a:extLst>
                    <a:ext uri="{9D8B030D-6E8A-4147-A177-3AD203B41FA5}">
                      <a16:colId xmlns:a16="http://schemas.microsoft.com/office/drawing/2014/main" val="3707001087"/>
                    </a:ext>
                  </a:extLst>
                </a:gridCol>
                <a:gridCol w="1346201">
                  <a:extLst>
                    <a:ext uri="{9D8B030D-6E8A-4147-A177-3AD203B41FA5}">
                      <a16:colId xmlns:a16="http://schemas.microsoft.com/office/drawing/2014/main" val="890785774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2057358851"/>
                    </a:ext>
                  </a:extLst>
                </a:gridCol>
              </a:tblGrid>
              <a:tr h="603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Variable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Estimate 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Std. Error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z value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Pr(&gt;|z|)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Significance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95670123"/>
                  </a:ext>
                </a:extLst>
              </a:tr>
              <a:tr h="344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(Intercept)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-4.729e+00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1.017e+00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-4.649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3.33e-06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***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75704938"/>
                  </a:ext>
                </a:extLst>
              </a:tr>
              <a:tr h="344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age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1.578e-02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1.358e-02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1.162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0.24521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93238876"/>
                  </a:ext>
                </a:extLst>
              </a:tr>
              <a:tr h="344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educ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1.613e-01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6.513e-02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2.477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0.01325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*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6890665"/>
                  </a:ext>
                </a:extLst>
              </a:tr>
              <a:tr h="344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black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3.065e+00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2.865e-01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10.699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&lt; 2e-16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***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85309767"/>
                  </a:ext>
                </a:extLst>
              </a:tr>
              <a:tr h="344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hispan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9.836e-01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4.257e-01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2.311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0.02084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*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12174419"/>
                  </a:ext>
                </a:extLst>
              </a:tr>
              <a:tr h="344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married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-8.321e-01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2.903e-01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-2.866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0.00415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**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67270923"/>
                  </a:ext>
                </a:extLst>
              </a:tr>
              <a:tr h="344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nodegree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7.073e-01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3.377e-01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2.095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0.03620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*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20931801"/>
                  </a:ext>
                </a:extLst>
              </a:tr>
              <a:tr h="344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re74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-7.178e-05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2.875e-05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-2.497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0.01253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*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75334765"/>
                  </a:ext>
                </a:extLst>
              </a:tr>
              <a:tr h="3447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re75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5.345e-05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4.635e-05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1.153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0.24884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206731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BB7830D0-0679-5F92-8491-6D8FCE41A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243" y="6526042"/>
            <a:ext cx="47083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Note: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Significance levels: ***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p&lt;0.001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; **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p&lt;0.01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; * 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p&lt;0.05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9747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E3295-3798-1E68-E241-464D0E69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Greedy  matching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A5E7A2-354C-AFAE-D50B-000A13A59F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216978"/>
              </p:ext>
            </p:extLst>
          </p:nvPr>
        </p:nvGraphicFramePr>
        <p:xfrm>
          <a:off x="838199" y="2035334"/>
          <a:ext cx="10515603" cy="39319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73908739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6502057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71589470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69749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7101015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290880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0295133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Variable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Means Treated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Means Control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Std. Mean Diff.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Var. Ratio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eCDF Mean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eCDF Max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95390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distance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0.5774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0.1822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1.7941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0.9211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0.3774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0.6444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564858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age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25.8162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28.0303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-0.3094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0.4400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0.0813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0.1577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266656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educ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10.3459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10.2354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0.0550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0.4959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0.0347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0.1114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5790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black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0.8432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0.2028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1.7615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0.6404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0.6404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50900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hispan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0.0595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0.1422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-0.3498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0.0827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0.0827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13597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married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0.1892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0.5128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-0.8263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0.3236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0.3236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25571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nodegree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0.7081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0.5967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0.2450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0.1114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0.1114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943674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re74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2095.5737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5619.2365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-0.7211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0.5181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0.2248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0.4470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569123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re75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1532.0553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2466.4844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-0.2903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0.9563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0.1342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0.2876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615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C04F4EA-426D-8512-0E3D-0F9D5888E1CE}"/>
              </a:ext>
            </a:extLst>
          </p:cNvPr>
          <p:cNvSpPr txBox="1"/>
          <p:nvPr/>
        </p:nvSpPr>
        <p:spPr>
          <a:xfrm>
            <a:off x="1173078" y="1493678"/>
            <a:ext cx="3495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Summary of Balance for All Data:</a:t>
            </a:r>
          </a:p>
        </p:txBody>
      </p:sp>
    </p:spTree>
    <p:extLst>
      <p:ext uri="{BB962C8B-B14F-4D97-AF65-F5344CB8AC3E}">
        <p14:creationId xmlns:p14="http://schemas.microsoft.com/office/powerpoint/2010/main" val="3683445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19159-21E3-9E9B-FE80-43B7103B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Greedy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EEECE-EBA8-F159-CAE1-78B493B2C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05" y="14778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Summary of balance for matched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53C0D4-94F1-A2CC-1F66-68111997D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57013"/>
              </p:ext>
            </p:extLst>
          </p:nvPr>
        </p:nvGraphicFramePr>
        <p:xfrm>
          <a:off x="573505" y="2155649"/>
          <a:ext cx="10515603" cy="39319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15862813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50109628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3922662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76254618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3921880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110981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99145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Variable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Means Treated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Means Control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Std. Mean Diff.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Var. Ratio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eCDF Mean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eCDF Max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8294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distance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0.5774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0.3629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0.9739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0.7566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0.1321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0.4216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153859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age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25.8162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25.3027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0.0718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0.4568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0.0847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0.2541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91461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educ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10.3459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10.6054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-0.1290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0.5721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0.0239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0.0757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855321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black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0.8432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0.4703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1.0259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0.3730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0.3730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520427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hispan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0.0595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0.2162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-0.6629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0.1568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0.1568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21006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married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0.1892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0.2108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-0.0552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0.0216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0.0216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20927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nodegree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0.7081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0.6378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0.1546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.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0.0703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0.0703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550513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re74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2095.5737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2342.1076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-0.0505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1.3289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0.0469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0.2757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453250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re75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1532.0553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1614.7451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-0.0257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1.4956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0.0452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</a:rPr>
                        <a:t>0.2054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514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453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4949-0742-8AC3-4844-B344C4B5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Assessing </a:t>
            </a:r>
            <a:r>
              <a:rPr lang="en-US" dirty="0" err="1"/>
              <a:t>standardised</a:t>
            </a:r>
            <a:r>
              <a:rPr lang="en-US" dirty="0"/>
              <a:t> pair distance and balance of participants between groups after matching.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3EFEDA-AF52-311D-0254-6C4FCCA8A5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0694537"/>
              </p:ext>
            </p:extLst>
          </p:nvPr>
        </p:nvGraphicFramePr>
        <p:xfrm>
          <a:off x="838200" y="2248694"/>
          <a:ext cx="3984172" cy="36576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992086">
                  <a:extLst>
                    <a:ext uri="{9D8B030D-6E8A-4147-A177-3AD203B41FA5}">
                      <a16:colId xmlns:a16="http://schemas.microsoft.com/office/drawing/2014/main" val="3268072542"/>
                    </a:ext>
                  </a:extLst>
                </a:gridCol>
                <a:gridCol w="1992086">
                  <a:extLst>
                    <a:ext uri="{9D8B030D-6E8A-4147-A177-3AD203B41FA5}">
                      <a16:colId xmlns:a16="http://schemas.microsoft.com/office/drawing/2014/main" val="3035405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Variable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Std. Pair Dist.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2305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distance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0.9740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85921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age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1.3938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2038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educ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1.2474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89548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black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1.0259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39300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hispan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1.0743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2592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married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0.8281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95657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nodegree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1.0106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1952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re74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0.7965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4121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re75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0.7381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85329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426512-456B-F3F7-B622-09171368A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091917"/>
              </p:ext>
            </p:extLst>
          </p:nvPr>
        </p:nvGraphicFramePr>
        <p:xfrm>
          <a:off x="6661485" y="2248694"/>
          <a:ext cx="4239126" cy="18288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13042">
                  <a:extLst>
                    <a:ext uri="{9D8B030D-6E8A-4147-A177-3AD203B41FA5}">
                      <a16:colId xmlns:a16="http://schemas.microsoft.com/office/drawing/2014/main" val="3231195760"/>
                    </a:ext>
                  </a:extLst>
                </a:gridCol>
                <a:gridCol w="1413042">
                  <a:extLst>
                    <a:ext uri="{9D8B030D-6E8A-4147-A177-3AD203B41FA5}">
                      <a16:colId xmlns:a16="http://schemas.microsoft.com/office/drawing/2014/main" val="2443062094"/>
                    </a:ext>
                  </a:extLst>
                </a:gridCol>
                <a:gridCol w="1413042">
                  <a:extLst>
                    <a:ext uri="{9D8B030D-6E8A-4147-A177-3AD203B41FA5}">
                      <a16:colId xmlns:a16="http://schemas.microsoft.com/office/drawing/2014/main" val="3040451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Control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Treated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595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All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429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54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Matched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029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Unmatched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244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646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Discarded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528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764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01D1D-D16A-0887-2EE5-EF7D2850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Plots for propensity scores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58BA89-F09A-15D6-23CC-69AB1F560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3457"/>
            <a:ext cx="5514474" cy="4541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82BD9F-2719-525D-828B-8FDE26235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530" y="1883691"/>
            <a:ext cx="3782243" cy="430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20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9901-A28F-A70E-850D-A02450F64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Paired t test after greedy matching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182514-3E9B-6515-5DE3-44A9A327B8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6883"/>
            <a:ext cx="936457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Average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Treatment Effect (ATE): $894.37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Test Statistic (t): 1.1866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Degrees of Freedom : 184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P-Value: 0.2369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95% Confidence Interval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756DBC-E010-4A9E-998E-2CC200D46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222439"/>
            <a:ext cx="1008647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While the job training program resulted in a positive average increase of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$894.37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in earnings, the result is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not statistically significant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p&gt;0.05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). We fail to reject the null hypothesis.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43043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3D3D-4008-24C8-E96D-A0EC8456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Logit Matching without using caliper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9C53111-1C30-D4D7-AFE1-8A73F8F1A3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671988"/>
              </p:ext>
            </p:extLst>
          </p:nvPr>
        </p:nvGraphicFramePr>
        <p:xfrm>
          <a:off x="587828" y="1837214"/>
          <a:ext cx="10515600" cy="36576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41979486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0926160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990985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140287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0037344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153788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Control </a:t>
                      </a:r>
                      <a:r>
                        <a:rPr lang="en-IN" b="1" dirty="0">
                          <a:effectLst/>
                        </a:rPr>
                        <a:t>(n=185)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Treated (n=185)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860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Variable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Mean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Control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Mean (n=185)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Treated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SMD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2936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age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25.12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10.38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25.82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7.16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0.078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7735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educ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10.62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2.65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10.35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2.01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0.115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62890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black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0.47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0.50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0.84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0.36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0.852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2929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hispan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0.22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0.06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0.24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0.479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2783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married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0.21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0.39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0.041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1970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nodegree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0.64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0.48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0.71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0.46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0.150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74519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re74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2487.32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4351.92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2095.57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4886.62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467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re75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1645.03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2682.85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1532.06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3219.25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0.038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4870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176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EDBFC-61FB-75AC-3964-502A959A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Logit matching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FA26C4-74E9-F01D-84F9-E82923F0F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03182"/>
              </p:ext>
            </p:extLst>
          </p:nvPr>
        </p:nvGraphicFramePr>
        <p:xfrm>
          <a:off x="3557337" y="2514600"/>
          <a:ext cx="4239126" cy="18288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13042">
                  <a:extLst>
                    <a:ext uri="{9D8B030D-6E8A-4147-A177-3AD203B41FA5}">
                      <a16:colId xmlns:a16="http://schemas.microsoft.com/office/drawing/2014/main" val="3231195760"/>
                    </a:ext>
                  </a:extLst>
                </a:gridCol>
                <a:gridCol w="1413042">
                  <a:extLst>
                    <a:ext uri="{9D8B030D-6E8A-4147-A177-3AD203B41FA5}">
                      <a16:colId xmlns:a16="http://schemas.microsoft.com/office/drawing/2014/main" val="2443062094"/>
                    </a:ext>
                  </a:extLst>
                </a:gridCol>
                <a:gridCol w="1413042">
                  <a:extLst>
                    <a:ext uri="{9D8B030D-6E8A-4147-A177-3AD203B41FA5}">
                      <a16:colId xmlns:a16="http://schemas.microsoft.com/office/drawing/2014/main" val="3040451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Control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Treated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595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All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429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54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Matched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185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029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Unmatched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244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646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Discarded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528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62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E5C9-B473-3507-BA7C-56D16338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Logit matching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4E601-CE73-C1FB-A96B-E20B0247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614" y="1690688"/>
            <a:ext cx="4992771" cy="472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923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8962D-3482-A9CA-EF35-4F854346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C7C1-F189-D0B2-1237-0E7FC335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Paired t test after logit matching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F10315-9991-AD63-CDF9-912BF69F81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6883"/>
            <a:ext cx="936457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Average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Treatment Effect (ATE): $736.79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Test Statistic (t): 1.035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Degrees of Freedom : 184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P-Value: 0.301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95% Confidence Interval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C42876-8B08-FFD8-35A9-919461112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222439"/>
            <a:ext cx="1008647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While the job training program resulted in a positive average increase of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$736.79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in earnings, the result is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not statistically significant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p&gt;0.05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). We fail to reject the null hypothesis.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0772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0DE8-A484-BA39-1E76-A35D4C62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Logit Matching using a caliper of 0.1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AD96FB-615C-4B0F-3311-79325810A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198648"/>
              </p:ext>
            </p:extLst>
          </p:nvPr>
        </p:nvGraphicFramePr>
        <p:xfrm>
          <a:off x="838200" y="2218214"/>
          <a:ext cx="10515600" cy="36576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69090598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7150942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062250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438931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08532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41813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Control (n=111)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Treated (n=111)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84947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Variable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Mean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Control SD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Mean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Treated SD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SMD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64147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age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26.54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11.04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26.03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6.92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0.056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62320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educ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10.50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2.65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10.27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2.30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0.094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5729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black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0.72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0.74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0.040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80634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hispan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0.33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0.30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3663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married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0.25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0.23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0.042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49642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nodegree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0.61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0.65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0.48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0.074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95580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re74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2664.85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4579.29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2238.16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5722.69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0.082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6699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re75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1828.77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2836.86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1088.15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2637.34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0.270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075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009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32F0-B575-81E2-6ECE-34FEB9CB5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50A3F-ECF7-C947-A0AC-81111EE6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Logit matching with caliper 0.1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2943AE-58EB-7068-E74D-A7657962E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784917"/>
              </p:ext>
            </p:extLst>
          </p:nvPr>
        </p:nvGraphicFramePr>
        <p:xfrm>
          <a:off x="3557337" y="2514600"/>
          <a:ext cx="4239126" cy="18288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13042">
                  <a:extLst>
                    <a:ext uri="{9D8B030D-6E8A-4147-A177-3AD203B41FA5}">
                      <a16:colId xmlns:a16="http://schemas.microsoft.com/office/drawing/2014/main" val="3231195760"/>
                    </a:ext>
                  </a:extLst>
                </a:gridCol>
                <a:gridCol w="1413042">
                  <a:extLst>
                    <a:ext uri="{9D8B030D-6E8A-4147-A177-3AD203B41FA5}">
                      <a16:colId xmlns:a16="http://schemas.microsoft.com/office/drawing/2014/main" val="2443062094"/>
                    </a:ext>
                  </a:extLst>
                </a:gridCol>
                <a:gridCol w="1413042">
                  <a:extLst>
                    <a:ext uri="{9D8B030D-6E8A-4147-A177-3AD203B41FA5}">
                      <a16:colId xmlns:a16="http://schemas.microsoft.com/office/drawing/2014/main" val="3040451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Control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Treated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595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All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429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185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54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Matched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029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Unmatched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646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Discarded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528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359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A74C-FB7B-EBA8-C761-5B758CE48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99F1-A7D0-6657-C72B-00B3C3D5F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21" y="264893"/>
            <a:ext cx="11566358" cy="1325563"/>
          </a:xfrm>
        </p:spPr>
        <p:txBody>
          <a:bodyPr/>
          <a:lstStyle/>
          <a:p>
            <a:pPr algn="ctr"/>
            <a:r>
              <a:rPr lang="en-US" dirty="0"/>
              <a:t>Paired t test after logit matching with caliper of 0.1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A35009-949C-93D5-1378-FC8A2E00E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6883"/>
            <a:ext cx="936457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Average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Treatment Effect (ATE): $1079.39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Test Statistic (t): 1.182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Degrees of Freedom : 110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P-Value: 0.239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95% Confidence Interval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87B411-BE06-0AAE-690F-71289CD70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222439"/>
            <a:ext cx="1008647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While the job training program resulted in a positive average increase of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$1079.39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in earnings, the result is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not statistically significant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p&gt;0.05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). We fail to reject the null hypothesis.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0396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1021</Words>
  <Application>Microsoft Macintosh PowerPoint</Application>
  <PresentationFormat>Widescreen</PresentationFormat>
  <Paragraphs>511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-webkit-standard</vt:lpstr>
      <vt:lpstr>Aptos</vt:lpstr>
      <vt:lpstr>Aptos Display</vt:lpstr>
      <vt:lpstr>Arial</vt:lpstr>
      <vt:lpstr>Google Sans Text</vt:lpstr>
      <vt:lpstr>Office Theme</vt:lpstr>
      <vt:lpstr>Causal Modelling in R </vt:lpstr>
      <vt:lpstr>Background</vt:lpstr>
      <vt:lpstr>Hypothesis</vt:lpstr>
      <vt:lpstr>Descriptive statistics for confounders</vt:lpstr>
      <vt:lpstr>Naïve treatment effect</vt:lpstr>
      <vt:lpstr>Logistic regression to find propensity scores</vt:lpstr>
      <vt:lpstr>Greedy  matching</vt:lpstr>
      <vt:lpstr>Greedy matching</vt:lpstr>
      <vt:lpstr>Assessing standardised pair distance and balance of participants between groups after matching.</vt:lpstr>
      <vt:lpstr>Plots for propensity scores</vt:lpstr>
      <vt:lpstr>Paired t test after greedy matching</vt:lpstr>
      <vt:lpstr>Logit Matching without using caliper</vt:lpstr>
      <vt:lpstr>Logit matching summary</vt:lpstr>
      <vt:lpstr>Logit matching plot</vt:lpstr>
      <vt:lpstr>Paired t test after logit matching</vt:lpstr>
      <vt:lpstr>Logit Matching using a caliper of 0.1</vt:lpstr>
      <vt:lpstr>Logit matching with caliper 0.1 summary</vt:lpstr>
      <vt:lpstr>Paired t test after logit matching with caliper of 0.1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Iyer, Abhay K.</dc:creator>
  <cp:lastModifiedBy>Iyer, Abhay K.</cp:lastModifiedBy>
  <cp:revision>8</cp:revision>
  <dcterms:created xsi:type="dcterms:W3CDTF">2026-05-01T20:35:22Z</dcterms:created>
  <dcterms:modified xsi:type="dcterms:W3CDTF">2026-05-03T10:17:04Z</dcterms:modified>
</cp:coreProperties>
</file>